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606 CAPSTONE  ·  FINAL PRESENTATION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96596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Predicting Movie Box-Office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Success Before Release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Bennett Speicher</a:t>
            </a:r>
            <a:pPr indent="0" marL="0">
              <a:buNone/>
            </a:pPr>
            <a:r>
              <a:rPr lang="en-US" sz="16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MPS Data Science, UMBC   ·   Summer 2026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526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UMBC Data Science Capstone — Dr. Chaojie (Jay) Wang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multi-million-dollar bet, made on incomplete information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6400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Studios commit tens to hundreds of millions of dollars years before a single ticket is sold.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 of what decides a film's fate — reviews, word of mouth, competition — only appears after release.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signals are known beforehand: budget, genre, runtime, release timing, language, studio.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predict a film's financial success from pre-release attributes alone.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498080" y="1783080"/>
            <a:ext cx="4023360" cy="3200400"/>
          </a:xfrm>
          <a:prstGeom prst="rect">
            <a:avLst/>
          </a:prstGeom>
          <a:solidFill>
            <a:srgbClr val="F3F4F6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2057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0" y="246888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end-to-end pipeline: data → EDA → machine-learning models → an interactive app that scores a film's odds of success.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counts as “success”?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6035040" cy="1280160"/>
          </a:xfrm>
          <a:prstGeom prst="rect">
            <a:avLst/>
          </a:prstGeom>
          <a:solidFill>
            <a:srgbClr val="14142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CD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Success = 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≥ 2 × Budget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73152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roughly doubles the cost — studios spend ~50–100% of the budget again on advertising.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Theaters keep about half the box-office gross, so studios net only ~50% of reported revenue.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film must gross about twice its budget just to break even.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321040" y="3200400"/>
            <a:ext cx="3246120" cy="2286000"/>
          </a:xfrm>
          <a:prstGeom prst="rect">
            <a:avLst/>
          </a:prstGeom>
          <a:solidFill>
            <a:srgbClr val="F3F4F6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0" y="342900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56%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8503920" y="43434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films clear the bar — a balanced target, ideal for classification.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TMDB 5000 Movie Dataset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1737360"/>
          </a:xfrm>
          <a:prstGeom prst="rect">
            <a:avLst/>
          </a:prstGeom>
          <a:solidFill>
            <a:srgbClr val="F3F4F6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745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509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4,803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movies (raw)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29000" y="1691640"/>
            <a:ext cx="2606040" cy="1737360"/>
          </a:xfrm>
          <a:prstGeom prst="rect">
            <a:avLst/>
          </a:prstGeom>
          <a:solidFill>
            <a:srgbClr val="F3F4F6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8745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509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3,215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743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after cleaning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606040" cy="1737360"/>
          </a:xfrm>
          <a:prstGeom prst="rect">
            <a:avLst/>
          </a:prstGeom>
          <a:solidFill>
            <a:srgbClr val="F3F4F6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8745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509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columns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06840" y="1691640"/>
            <a:ext cx="2606040" cy="1737360"/>
          </a:xfrm>
          <a:prstGeom prst="rect">
            <a:avLst/>
          </a:prstGeom>
          <a:solidFill>
            <a:srgbClr val="F3F4F6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8745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509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1916–2016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years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840480"/>
            <a:ext cx="108813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is one movie: budget, revenue, genres, runtime, release date, language, studios.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Cleaning: released films only; plausible budget (≥ $1,000 — 13 films had impossible $1–$250 budgets) and real revenue; parse JSON fields.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features: ROI, season, release window, genre-timing flags, sequel/franchise flag, major-studio flag.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The Movie Database (TMDb), via Kaggle.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HIGHLIGHTS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Budget vs. revenue — the break-even line</a:t>
            </a:r>
            <a:endParaRPr lang="en-US" sz="2800" dirty="0"/>
          </a:p>
        </p:txBody>
      </p:sp>
      <p:pic>
        <p:nvPicPr>
          <p:cNvPr id="4" name="Image 0" descr="/sessions/optimistic-determined-edison/mnt/outputs/UMBC-DATA606-Capstone/docs/figures/budget_vs_revenu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694944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863840" y="2011680"/>
            <a:ext cx="37490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 = break-even (revenue = 2× budget). Green cleared it; red didn't.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budgets earn more in absolute terms — but plenty of expensive films still miss.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matters, but it isn't destiny — which is why this is worth modeling.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HIGHLIGHTS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a film opens matters</a:t>
            </a:r>
            <a:endParaRPr lang="en-US" sz="2800" dirty="0"/>
          </a:p>
        </p:txBody>
      </p:sp>
      <p:pic>
        <p:nvPicPr>
          <p:cNvPr id="4" name="Image 0" descr="/sessions/optimistic-determined-edison/mnt/outputs/UMBC-DATA606-Capstone/docs/figures/month_success_volu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713232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2011680"/>
            <a:ext cx="3657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peaks in June (~67%); September is worst (~43%) — and one of the busiest: the “dump month.”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industry window: Summer and Holiday ~61% vs. 56% baseline; early Fall just 47%.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matters too: horror leads (~78%), action is lowest (~50%).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HIGHLIGHTS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right genre in the right window</a:t>
            </a:r>
            <a:endParaRPr lang="en-US" sz="2800" dirty="0"/>
          </a:p>
        </p:txBody>
      </p:sp>
      <p:pic>
        <p:nvPicPr>
          <p:cNvPr id="4" name="Image 0" descr="/sessions/optimistic-determined-edison/mnt/outputs/UMBC-DATA606-Capstone/docs/figures/genre_timing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713232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Action/Adventure in summer: 64% vs 50% the rest of the year (+14 pts).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Family/Animation over the holidays: 68% vs 58% (+10 pts).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Horror clusters in October — its single biggest release month.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patterns become features the model can use.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Approach — strictly pre-release features, no leakage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input features, all knowable before release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54864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Financial: budget (log) · spend intensity (budget per minute)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Content: primary genre · runtime · # genres · language(s)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release year · season · industry release window · genre-timing flags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Production: # production companies · major-studio flag · sequel/franchise flag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excluded (leakage)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75120" y="2011680"/>
            <a:ext cx="4846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ROI, profit — the outcome itself.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Popularity, ratings, vote counts — these only exist after release.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only sees what a studio would know at the greenlight moment.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1088136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51206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 </a:t>
            </a:r>
            <a:pPr indent="0" marL="0">
              <a:buNone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80/20 train-test split (2,572 / 643 films) + 5-fold cross-validation · three classifiers: Logistic Regression, Random Forest (tuned), Gradient Boosting.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 — two signals that moved the needle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3108960"/>
          </a:xfrm>
          <a:prstGeom prst="rect">
            <a:avLst/>
          </a:prstGeom>
          <a:solidFill>
            <a:srgbClr val="F3F4F6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SEQUEL / FRANCHISE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68% vs 54%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from plot keywords (sequel, superhero, based on novel…) and title patterns (Part, 2, III…). Franchise films clear the bar far more often.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80760" y="1691640"/>
            <a:ext cx="5257800" cy="3108960"/>
          </a:xfrm>
          <a:prstGeom prst="rect">
            <a:avLst/>
          </a:prstGeom>
          <a:solidFill>
            <a:srgbClr val="F3F4F6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9202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STUDIO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55080" y="228600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61% vs 51%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355080" y="310896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 major (Disney, Warner Bros., Universal…) produced the film — distribution muscle and marketing reach show up in outcomes.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added:  </a:t>
            </a:r>
            <a:pPr indent="0" marL="0">
              <a:buNone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year (era effects) and spend intensity (budget ÷ runtime). Together these lifted test ROC-AUC from 0.66 to 0.71.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— all models beat the baseline</a:t>
            </a:r>
            <a:endParaRPr lang="en-US" sz="2800" dirty="0"/>
          </a:p>
        </p:txBody>
      </p:sp>
      <p:pic>
        <p:nvPicPr>
          <p:cNvPr id="4" name="Image 0" descr="/sessions/optimistic-determined-edison/mnt/outputs/UMBC-DATA606-Capstone/docs/figures/model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694944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863840" y="2011680"/>
            <a:ext cx="3749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held-out test: 68% accuracy, 0.715 ROC-AUC (baseline: 56%).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and the tuned Random Forest are essentially tied; Logistic Regression trails.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recall (~0.75): the model catches most true successes.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Robustness — cross-validation and error profile</a:t>
            </a:r>
            <a:endParaRPr lang="en-US" sz="2800" dirty="0"/>
          </a:p>
        </p:txBody>
      </p:sp>
      <p:pic>
        <p:nvPicPr>
          <p:cNvPr id="4" name="Image 0" descr="/sessions/optimistic-determined-edison/mnt/outputs/UMBC-DATA606-Capstone/docs/figures/roc_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5486400" cy="4206240"/>
          </a:xfrm>
          <a:prstGeom prst="rect">
            <a:avLst/>
          </a:prstGeom>
        </p:spPr>
      </p:pic>
      <p:pic>
        <p:nvPicPr>
          <p:cNvPr id="5" name="Image 1" descr="/sessions/optimistic-determined-edison/mnt/outputs/UMBC-DATA606-Capstone/docs/figures/confusion_matri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645920"/>
            <a:ext cx="4754880" cy="42062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59436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cross-validation:  </a:t>
            </a:r>
            <a:pPr indent="0" marL="0">
              <a:buNone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Random Forest is most robust — 64% accuracy, 0.683 AUC (±0.025). A single split can flatter a model; CV keeps us honest.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drives the predictions</a:t>
            </a:r>
            <a:endParaRPr lang="en-US" sz="2800" dirty="0"/>
          </a:p>
        </p:txBody>
      </p:sp>
      <p:pic>
        <p:nvPicPr>
          <p:cNvPr id="4" name="Image 0" descr="/sessions/optimistic-determined-edison/mnt/outputs/UMBC-DATA606-Capstone/docs/figures/feature_importa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694944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863840" y="2011680"/>
            <a:ext cx="3749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scale dominates: spend intensity, release year, and budget are the top three.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studio count, and the sequel / major-studio flags follow.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(Horror) and the timing features add real secondary signal — the EDA and the model agree.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Streamlit app — every input, explained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user enters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53949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— the strongest single predictor (log-scaled internally).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genre — horror/animation outperform; action is hardest.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also feeds spend intensity (budget ÷ minute).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month &amp; year — timing and era effects.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· # production companies (+ advanced: # genres, # languages).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Sequel/franchise ✓ and major-studio ✓ — the two engineered flags.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app does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92240" y="1965960"/>
            <a:ext cx="50292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Derives the hidden features automatically — season, release window, genre-timing flags, spend intensity.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the most robust model (tuned Random Forest) on the full cleaned dataset.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probability of success with a clear verdict — plus the honest caveat that the 2× target is a proxy for profit.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to run: streamlit run app/app.py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41248" y="3154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Box-Office Success Predictor — running locally at localhost:8501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41248" y="5394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demo gods are unkind:  </a:t>
            </a:r>
            <a:pPr indent="0" marL="0">
              <a:buNone/>
            </a:pPr>
            <a:r>
              <a:rPr lang="en-US" sz="1300" i="1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franchise tentpole → 72% · low-budget October horror → 72% · big-budget September drama → 48%.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Takeaways, limitations, and what's next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Pre-release attributes predict success meaningfully better than chance.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dominates; genre, timing, and franchise/studio signals add real lift.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480560" y="1600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0" y="201168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rule is a proxy — revenue is gross; budget excludes marketing.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ends in 2016 and skews to larger films; ~33% of rows lacked usable financials.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412480" y="2011680"/>
            <a:ext cx="32004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power, marketing spend, and competition features.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3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Newer data + streaming; NLP on plot summaries; ROI-tier prediction.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Predicting movie success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the cameras roll.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41248" y="4114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Bennett Speicher</a:t>
            </a:r>
            <a:pPr indent="0" marL="0">
              <a:buNone/>
            </a:pPr>
            <a:r>
              <a:rPr lang="en-US" sz="150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github.com/bdspeicher12/UMBC-DATA606-Capstone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1248" y="4572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Movie Box-Office Success Before Release</dc:title>
  <dc:subject>PptxGenJS Presentation</dc:subject>
  <dc:creator>Bennett Speicher</dc:creator>
  <cp:lastModifiedBy>Bennett Speicher</cp:lastModifiedBy>
  <cp:revision>1</cp:revision>
  <dcterms:created xsi:type="dcterms:W3CDTF">2026-07-28T16:31:54Z</dcterms:created>
  <dcterms:modified xsi:type="dcterms:W3CDTF">2026-07-28T16:31:54Z</dcterms:modified>
</cp:coreProperties>
</file>