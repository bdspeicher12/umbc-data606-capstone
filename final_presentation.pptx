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606 CAPSTONE  ·  FINAL PRESENTATION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Movie Box-Office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Before Release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Bennett Speicher</a:t>
            </a:r>
            <a:pPr indent="0" marL="0">
              <a:buNone/>
            </a:pPr>
            <a:r>
              <a:rPr lang="en-US" sz="20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MPS Data Science, UMBC   ·   Summer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UMBC Data Science Capstone — Dr. Chaojie (Jay) Wang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multi-million-dollar bet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600"/>
              </a:spcAft>
              <a:buNone/>
            </a:pPr>
            <a:r>
              <a:rPr lang="en-US" sz="2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 commit $100M+ years before a single ticket sells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600"/>
              </a:spcAft>
              <a:buNone/>
            </a:pPr>
            <a:r>
              <a:rPr lang="en-US" sz="2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word of mouth, competition — only appear after release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600"/>
              </a:spcAft>
              <a:buNone/>
            </a:pPr>
            <a:r>
              <a:rPr lang="en-US" sz="2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real signals ARE known early: budget, genre, timing, studio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1600"/>
              </a:spcAft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financial success from pre-release info alone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394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 </a:t>
            </a:r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→  EDA  →  ML models  →  interactive app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counts as “success”?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223760" cy="1554480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9C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= 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≥ 2 × Budget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040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600"/>
              </a:spcAft>
              <a:buNone/>
            </a:pPr>
            <a:r>
              <a:rPr lang="en-US" sz="24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≈ doubles the cost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600"/>
              </a:spcAft>
              <a:buNone/>
            </a:pPr>
            <a:r>
              <a:rPr lang="en-US" sz="24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Theaters keep ~half the gross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must gross ~2× budget to break even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0" y="1645920"/>
            <a:ext cx="3337560" cy="4297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228600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8412480" y="3657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films clear the bar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0" y="4206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target — ideal for classification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TMDB 5000 Movie Dataset  (via Kaggle)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4,803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movies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6060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057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3,215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2044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6060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57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0936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06840" y="1737360"/>
            <a:ext cx="26060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2057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1916–2016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9828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600"/>
              </a:spcAft>
              <a:buNone/>
            </a:pPr>
            <a:r>
              <a:rPr lang="en-US" sz="23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movie (budget, revenue, genres, runtime, date, studio)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600"/>
              </a:spcAft>
              <a:buNone/>
            </a:pPr>
            <a:r>
              <a:rPr lang="en-US" sz="23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unknown financials + 13 impossible budgets ($1–$250)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600"/>
              </a:spcAft>
              <a:buNone/>
            </a:pPr>
            <a:r>
              <a:rPr lang="en-US" sz="23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Engineered: season · release window · sequel flag · studio flag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400" dirty="0"/>
          </a:p>
        </p:txBody>
      </p:sp>
      <p:pic>
        <p:nvPicPr>
          <p:cNvPr id="3" name="Image 0" descr="/sessions/optimistic-determined-edison/mnt/outputs/pres_figures/budget_vs_reven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685800"/>
            <a:ext cx="113842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RELEASE TIMING</a:t>
            </a:r>
            <a:endParaRPr lang="en-US" sz="1400" dirty="0"/>
          </a:p>
        </p:txBody>
      </p:sp>
      <p:pic>
        <p:nvPicPr>
          <p:cNvPr id="3" name="Image 0" descr="/sessions/optimistic-determined-edison/mnt/outputs/pres_figures/month_success_volu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685800"/>
            <a:ext cx="113842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GENRE × TIMING</a:t>
            </a:r>
            <a:endParaRPr lang="en-US" sz="1400" dirty="0"/>
          </a:p>
        </p:txBody>
      </p:sp>
      <p:pic>
        <p:nvPicPr>
          <p:cNvPr id="3" name="Image 0" descr="/sessions/optimistic-determined-edison/mnt/outputs/pres_figures/genre_timing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685800"/>
            <a:ext cx="113842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— no leakage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features — all pre-release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 budget · spend intensity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 genre · runtime · language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 year · season · window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 studios · sequel flag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(post-release)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675120" y="224028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ROI · profit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· popularity · votes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sees only what a studio knows at greenlight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5577840"/>
            <a:ext cx="1088136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5778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pPr indent="0" marL="0">
              <a:buNone/>
            </a:pPr>
            <a:r>
              <a:rPr lang="en-US" sz="20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+ 5-fold CV  ·  3 classifiers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pic>
        <p:nvPicPr>
          <p:cNvPr id="3" name="Image 0" descr="/sessions/optimistic-determined-edison/mnt/outputs/pres_figures/sequel_stud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685800"/>
            <a:ext cx="10698480" cy="5394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Sequels: +14 pts  ·  Major studios: +10 pts  ·  </a:t>
            </a:r>
            <a:pPr algn="ctr" indent="0" marL="0">
              <a:buNone/>
            </a:pPr>
            <a:r>
              <a:rPr lang="en-US" sz="1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year + spend intensity → AUC 0.66 → 0.71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pic>
        <p:nvPicPr>
          <p:cNvPr id="3" name="Image 0" descr="/sessions/optimistic-determined-edison/mnt/outputs/pres_figures/mode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685800"/>
            <a:ext cx="8412480" cy="5760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052560" y="1371600"/>
            <a:ext cx="2743200" cy="4206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52560" y="1645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05256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052560" y="3063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149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0.715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052560" y="3931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56%)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 across splits — CV: 64% · 0.68 AUC</a:t>
            </a:r>
            <a:endParaRPr lang="en-US" sz="3400" dirty="0"/>
          </a:p>
        </p:txBody>
      </p:sp>
      <p:pic>
        <p:nvPicPr>
          <p:cNvPr id="4" name="Image 0" descr="/sessions/optimistic-determined-edison/mnt/outputs/pres_figures/roc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554480"/>
            <a:ext cx="5852160" cy="4846320"/>
          </a:xfrm>
          <a:prstGeom prst="rect">
            <a:avLst/>
          </a:prstGeom>
        </p:spPr>
      </p:pic>
      <p:pic>
        <p:nvPicPr>
          <p:cNvPr id="5" name="Image 1" descr="/sessions/optimistic-determined-edison/mnt/outputs/pres_figures/confusion_matri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1554480"/>
            <a:ext cx="53949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pic>
        <p:nvPicPr>
          <p:cNvPr id="3" name="Image 0" descr="/sessions/optimistic-determined-edison/mnt/outputs/pres_figures/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685800"/>
            <a:ext cx="113842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41248" y="2377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 ·  enter a film's pre-release profile  →  probability of success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3566160"/>
            <a:ext cx="3429000" cy="2286000"/>
          </a:xfrm>
          <a:prstGeom prst="rect">
            <a:avLst/>
          </a:prstGeom>
          <a:solidFill>
            <a:srgbClr val="1E1E38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7947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05840" y="4892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franchise tentpole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34840" y="3566160"/>
            <a:ext cx="3429000" cy="2286000"/>
          </a:xfrm>
          <a:prstGeom prst="rect">
            <a:avLst/>
          </a:prstGeom>
          <a:solidFill>
            <a:srgbClr val="1E1E38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37947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617720" y="4892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Low-budget October horror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46720" y="3566160"/>
            <a:ext cx="3429000" cy="2286000"/>
          </a:xfrm>
          <a:prstGeom prst="rect">
            <a:avLst/>
          </a:prstGeom>
          <a:solidFill>
            <a:srgbClr val="1E1E38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37947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A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229600" y="4892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Big-budget September drama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&amp; limitations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Pre-release info beats chance — clearly</a:t>
            </a:r>
            <a:endParaRPr lang="en-US" sz="2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dominates</a:t>
            </a:r>
            <a:endParaRPr lang="en-US" sz="2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+ timing + franchise add real lift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92240" y="228600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rule = proxy for profit</a:t>
            </a:r>
            <a:endParaRPr lang="en-US" sz="2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ends in 2016, skews large</a:t>
            </a:r>
            <a:endParaRPr lang="en-US" sz="2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Post-release factors excluded by design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goes next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332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power &amp; marketing spend as features</a:t>
            </a:r>
            <a:endParaRPr lang="en-US" sz="2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data + streaming-era releases</a:t>
            </a:r>
            <a:endParaRPr lang="en-US" sz="2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on plot summaries</a:t>
            </a:r>
            <a:endParaRPr lang="en-US" sz="2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tiers instead of a single 2× cutoff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41248" y="5806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    </a:t>
            </a:r>
            <a:pPr indent="0" marL="0">
              <a:buNone/>
            </a:pPr>
            <a:r>
              <a:rPr lang="en-US" sz="2000" b="1" dirty="0">
                <a:solidFill>
                  <a:srgbClr val="FF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github.com/bdspeicher12/UMBC-DATA606-Capstone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Movie Box-Office Success Before Release</dc:title>
  <dc:subject>PptxGenJS Presentation</dc:subject>
  <dc:creator>Bennett Speicher</dc:creator>
  <cp:lastModifiedBy>Bennett Speicher</cp:lastModifiedBy>
  <cp:revision>1</cp:revision>
  <dcterms:created xsi:type="dcterms:W3CDTF">2026-08-17T17:33:43Z</dcterms:created>
  <dcterms:modified xsi:type="dcterms:W3CDTF">2026-08-17T17:33:43Z</dcterms:modified>
</cp:coreProperties>
</file>